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9" r:id="rId12"/>
    <p:sldId id="264" r:id="rId13"/>
    <p:sldId id="265" r:id="rId14"/>
    <p:sldId id="266" r:id="rId15"/>
    <p:sldId id="267" r:id="rId16"/>
    <p:sldId id="268" r:id="rId1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42.xml"/><Relationship Id="rId3" Type="http://schemas.openxmlformats.org/officeDocument/2006/relationships/tags" Target="../tags/tag15.xml"/><Relationship Id="rId29" Type="http://schemas.openxmlformats.org/officeDocument/2006/relationships/tags" Target="../tags/tag4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AMD SLINGSHOT 2026</a:t>
            </a:r>
            <a:endParaRPr sz="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</a:rPr>
              <a:t>Agri-Brain</a:t>
            </a:r>
            <a:endParaRPr sz="6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7941D"/>
                </a:solidFill>
              </a:rPr>
              <a:t>AI-Orchestrated Rural Grid (A-ORG)</a:t>
            </a:r>
            <a:endParaRPr sz="3000" b="1">
              <a:solidFill>
                <a:srgbClr val="F7941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Solving the "Kilometre Gap" with Edge AI + AMD Ryzen™</a:t>
            </a:r>
            <a:endParaRPr sz="1600" b="0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45720" cy="6400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49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TEAM</a:t>
            </a:r>
            <a:endParaRPr sz="800" b="0">
              <a:solidFill>
                <a:srgbClr val="94A3B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Shravana H S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66160" y="3749039"/>
            <a:ext cx="45720" cy="6400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3749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CHALLENGE</a:t>
            </a:r>
            <a:endParaRPr sz="800" b="0">
              <a:solidFill>
                <a:srgbClr val="94A3B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30752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AI / Edge Computing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0" y="3749039"/>
            <a:ext cx="45720" cy="6400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749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TRACK</a:t>
            </a:r>
            <a:endParaRPr sz="800" b="0">
              <a:solidFill>
                <a:srgbClr val="94A3B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65392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AgriTech Innovation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235440" y="3749039"/>
            <a:ext cx="45720" cy="6400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749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STAGE</a:t>
            </a:r>
            <a:endParaRPr sz="800" b="0">
              <a:solidFill>
                <a:srgbClr val="94A3B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00032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Functional Prototype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</a:rPr>
              <a:t>AMD Slingshot 2026  |  Agri-Brain Prototype Submission  |  shravanahs97@gmail.com</a:t>
            </a:r>
            <a:endParaRPr sz="800" b="0">
              <a:solidFill>
                <a:srgbClr val="334155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1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TEAM DETAILS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Built by One — Driven by Purpose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303520" cy="50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Shravana H 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058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>
                <a:solidFill>
                  <a:srgbClr val="F7941D"/>
                </a:solidFill>
              </a:rPr>
              <a:t>Field</a:t>
            </a:r>
            <a:r>
              <a:rPr sz="1100" b="1">
                <a:solidFill>
                  <a:srgbClr val="F7941D"/>
                </a:solidFill>
              </a:rPr>
              <a:t>:</a:t>
            </a:r>
            <a:endParaRPr sz="1100" b="1">
              <a:solidFill>
                <a:srgbClr val="F7941D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2057400"/>
            <a:ext cx="384048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rgbClr val="FFFFFF"/>
                </a:solidFill>
              </a:rPr>
              <a:t>Electronics and Communication Engg. student</a:t>
            </a:r>
            <a:endParaRPr lang="en-US" sz="1100" b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941D"/>
                </a:solidFill>
              </a:rPr>
              <a:t>Email:</a:t>
            </a:r>
            <a:endParaRPr sz="1100" b="1">
              <a:solidFill>
                <a:srgbClr val="F7941D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2514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shravanahs97@gmail.com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941D"/>
                </a:solidFill>
              </a:rPr>
              <a:t>GitHub:</a:t>
            </a:r>
            <a:endParaRPr sz="1100" b="1">
              <a:solidFill>
                <a:srgbClr val="F7941D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65960" y="2971800"/>
            <a:ext cx="384048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100" b="0">
                <a:solidFill>
                  <a:srgbClr val="FFFFFF"/>
                </a:solidFill>
              </a:rPr>
              <a:t>https://github.com/ShravanaHS/</a:t>
            </a:r>
            <a:endParaRPr lang="en-US" altLang="en-US" sz="1100" b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941D"/>
                </a:solidFill>
              </a:rPr>
              <a:t>College:</a:t>
            </a:r>
            <a:endParaRPr sz="1100" b="1">
              <a:solidFill>
                <a:srgbClr val="F7941D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5960" y="3429000"/>
            <a:ext cx="384048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rgbClr val="FFFFFF"/>
                </a:solidFill>
              </a:rPr>
              <a:t>Dayananda Sagar Academy of Technology and Management</a:t>
            </a:r>
            <a:endParaRPr lang="en-US" sz="1100" b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4160520"/>
            <a:ext cx="1280160" cy="256032"/>
          </a:xfrm>
          <a:prstGeom prst="rect">
            <a:avLst/>
          </a:prstGeom>
          <a:solidFill>
            <a:srgbClr val="3B0709"/>
          </a:solidFill>
          <a:ln w="127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D1C24"/>
                </a:solidFill>
              </a:rPr>
              <a:t>Python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23160" y="4160520"/>
            <a:ext cx="1280160" cy="256032"/>
          </a:xfrm>
          <a:prstGeom prst="rect">
            <a:avLst/>
          </a:prstGeom>
          <a:solidFill>
            <a:srgbClr val="012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1605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</a:rPr>
              <a:t>IoT/MQTT</a:t>
            </a:r>
            <a:endParaRPr sz="900" b="1">
              <a:solidFill>
                <a:srgbClr val="06B6D4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31920" y="4160520"/>
            <a:ext cx="1280160" cy="256032"/>
          </a:xfrm>
          <a:prstGeom prst="rect">
            <a:avLst/>
          </a:prstGeom>
          <a:solidFill>
            <a:srgbClr val="08311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41605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55E"/>
                </a:solidFill>
              </a:rPr>
              <a:t>Edge AI</a:t>
            </a:r>
            <a:endParaRPr sz="900" b="1">
              <a:solidFill>
                <a:srgbClr val="22C55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4507992"/>
            <a:ext cx="1280160" cy="256032"/>
          </a:xfrm>
          <a:prstGeom prst="rect">
            <a:avLst/>
          </a:prstGeom>
          <a:solidFill>
            <a:srgbClr val="3D2507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079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941D"/>
                </a:solidFill>
              </a:rPr>
              <a:t>Embedded C++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23160" y="4507992"/>
            <a:ext cx="1280160" cy="256032"/>
          </a:xfrm>
          <a:prstGeom prst="rect">
            <a:avLst/>
          </a:prstGeom>
          <a:solidFill>
            <a:srgbClr val="2A153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4507992"/>
            <a:ext cx="1188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55F7"/>
                </a:solidFill>
              </a:rPr>
              <a:t>Web </a:t>
            </a:r>
            <a:r>
              <a:rPr lang="en-US" sz="900" b="1">
                <a:solidFill>
                  <a:srgbClr val="A855F7"/>
                </a:solidFill>
              </a:rPr>
              <a:t> and app </a:t>
            </a:r>
            <a:r>
              <a:rPr sz="900" b="1">
                <a:solidFill>
                  <a:srgbClr val="A855F7"/>
                </a:solidFill>
              </a:rPr>
              <a:t>Dev</a:t>
            </a:r>
            <a:endParaRPr sz="900" b="1">
              <a:solidFill>
                <a:srgbClr val="A855F7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931920" y="4507992"/>
            <a:ext cx="1280160" cy="256032"/>
          </a:xfrm>
          <a:prstGeom prst="rect">
            <a:avLst/>
          </a:prstGeom>
          <a:solidFill>
            <a:srgbClr val="3A2C02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4507992"/>
            <a:ext cx="1188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EAB308"/>
                </a:solidFill>
              </a:rPr>
              <a:t>PCB Design</a:t>
            </a:r>
            <a:endParaRPr lang="en-US" sz="900" b="1">
              <a:solidFill>
                <a:srgbClr val="EAB308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Lines of Code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0" y="19659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3,000+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7512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AI Models Integrated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75120" y="3429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7512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Days to Build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75120" y="4892040"/>
            <a:ext cx="43891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1</a:t>
            </a:r>
            <a:r>
              <a:rPr sz="4000" b="1">
                <a:solidFill>
                  <a:srgbClr val="FFFFFF"/>
                </a:solidFill>
              </a:rPr>
              <a:t>5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2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PROBLEM STATEMENT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Indian Farmers Face a Triple Crisis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3716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371600"/>
            <a:ext cx="104241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</a:rPr>
              <a:t>The 'Kilometre Gap'</a:t>
            </a:r>
            <a:endParaRPr sz="1600" b="1">
              <a:solidFill>
                <a:srgbClr val="ED1C2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Farmers walk 5–10 km daily just to toggle irrigation valves manually,
losing hours of productive time every single day.</a:t>
            </a:r>
            <a:endParaRPr sz="1200" b="0">
              <a:solidFill>
                <a:srgbClr val="94A3B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73152" cy="13716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154680"/>
            <a:ext cx="104241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941D"/>
                </a:solidFill>
              </a:rPr>
              <a:t>Motor Burnout = Financial Ruin</a:t>
            </a:r>
            <a:endParaRPr sz="1600" b="1">
              <a:solidFill>
                <a:srgbClr val="F7941D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When a pump runs dry, the motor burns. Replacing one motor costs a farmer
their entire month's income — with zero warning.</a:t>
            </a:r>
            <a:endParaRPr sz="1200" b="0">
              <a:solidFill>
                <a:srgbClr val="94A3B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73152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4937760"/>
            <a:ext cx="104241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</a:rPr>
              <a:t>The Cloud Gap</a:t>
            </a:r>
            <a:endParaRPr sz="1600" b="1">
              <a:solidFill>
                <a:srgbClr val="06B6D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54864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Existing 'smart agri' solutions require 4G/internet. In rural India,
connectivity is not guaranteed — making cloud-dependent products useless.</a:t>
            </a:r>
            <a:endParaRPr sz="1200" b="0">
              <a:solidFill>
                <a:srgbClr val="94A3B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3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ABOUT OUR IDEA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Agri-Brain: The Farm's Autonomous Nervous System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Agri-Brain is a Local-First Edge AI platform running entirely on an AMD Ryzen™ laptop.
It connects to ESP32 microcontrollers in the field via MQTT, making real-time decisions
</a:t>
            </a:r>
            <a:r>
              <a:rPr lang="en-US" sz="1300" b="0">
                <a:solidFill>
                  <a:srgbClr val="94A3B8"/>
                </a:solidFill>
              </a:rPr>
              <a:t>with and </a:t>
            </a:r>
            <a:r>
              <a:rPr sz="1300" b="0">
                <a:solidFill>
                  <a:srgbClr val="94A3B8"/>
                </a:solidFill>
              </a:rPr>
              <a:t>without internet. It is a brain transplant for the traditional farm.</a:t>
            </a:r>
            <a:endParaRPr sz="1300" b="0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731520" y="2428240"/>
            <a:ext cx="35661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731520" y="2377440"/>
            <a:ext cx="356616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🌊</a:t>
            </a:r>
            <a:endParaRPr sz="32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91440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Smart Irrigation</a:t>
            </a:r>
            <a:endParaRPr sz="1400" b="1">
              <a:solidFill>
                <a:srgbClr val="22C55E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914400" y="3794760"/>
            <a:ext cx="32004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grid </a:t>
            </a:r>
            <a:r>
              <a:rPr lang="en-US" sz="1100" b="0">
                <a:solidFill>
                  <a:srgbClr val="94A3B8"/>
                </a:solidFill>
              </a:rPr>
              <a:t>based </a:t>
            </a:r>
            <a:r>
              <a:rPr sz="1100" b="0">
                <a:solidFill>
                  <a:srgbClr val="94A3B8"/>
                </a:solidFill>
              </a:rPr>
              <a:t>sequential system triggered by live </a:t>
            </a:r>
            <a:r>
              <a:rPr lang="en-US" sz="1100" b="0">
                <a:solidFill>
                  <a:srgbClr val="94A3B8"/>
                </a:solidFill>
              </a:rPr>
              <a:t>sensor data (soil </a:t>
            </a:r>
            <a:r>
              <a:rPr sz="1100" b="0">
                <a:solidFill>
                  <a:srgbClr val="94A3B8"/>
                </a:solidFill>
              </a:rPr>
              <a:t>moisture</a:t>
            </a:r>
            <a:r>
              <a:rPr lang="en-US" sz="1100" b="0">
                <a:solidFill>
                  <a:srgbClr val="94A3B8"/>
                </a:solidFill>
              </a:rPr>
              <a:t>, pH etc..)</a:t>
            </a:r>
            <a:r>
              <a:rPr sz="1100" b="0">
                <a:solidFill>
                  <a:srgbClr val="94A3B8"/>
                </a:solidFill>
              </a:rPr>
              <a:t> </a:t>
            </a:r>
            <a:r>
              <a:rPr lang="en-US" sz="1100" b="0">
                <a:solidFill>
                  <a:srgbClr val="94A3B8"/>
                </a:solidFill>
              </a:rPr>
              <a:t>using </a:t>
            </a:r>
            <a:r>
              <a:rPr sz="1100" b="0">
                <a:solidFill>
                  <a:srgbClr val="94A3B8"/>
                </a:solidFill>
              </a:rPr>
              <a:t>ESP32.</a:t>
            </a:r>
            <a:endParaRPr sz="1100" b="0">
              <a:solidFill>
                <a:srgbClr val="94A3B8"/>
              </a:solidFill>
            </a:endParaRPr>
          </a:p>
        </p:txBody>
      </p:sp>
      <p:sp>
        <p:nvSpPr>
          <p:cNvPr id="11" name="Rectangle 10"/>
          <p:cNvSpPr/>
          <p:nvPr>
            <p:custDataLst>
              <p:tags r:id="rId5"/>
            </p:custDataLst>
          </p:nvPr>
        </p:nvSpPr>
        <p:spPr>
          <a:xfrm>
            <a:off x="4572000" y="2377440"/>
            <a:ext cx="35661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4572000" y="2377440"/>
            <a:ext cx="3566160" cy="508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🧠</a:t>
            </a:r>
            <a:endParaRPr sz="3200" b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75488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941D"/>
                </a:solidFill>
              </a:rPr>
              <a:t>Multi-Modal AI</a:t>
            </a:r>
            <a:endParaRPr sz="1400" b="1">
              <a:solidFill>
                <a:srgbClr val="F7941D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754880" y="3794760"/>
            <a:ext cx="32004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AI engines running simultaneously: acoustic, vision, NLP, soil, advisory</a:t>
            </a:r>
            <a:r>
              <a:rPr lang="en-US" sz="1100" b="0">
                <a:solidFill>
                  <a:srgbClr val="94A3B8"/>
                </a:solidFill>
              </a:rPr>
              <a:t>(offline)</a:t>
            </a:r>
            <a:r>
              <a:rPr sz="1100" b="0">
                <a:solidFill>
                  <a:srgbClr val="94A3B8"/>
                </a:solidFill>
              </a:rPr>
              <a:t>.</a:t>
            </a:r>
            <a:r>
              <a:rPr lang="en-US" sz="1100" b="0">
                <a:solidFill>
                  <a:srgbClr val="94A3B8"/>
                </a:solidFill>
              </a:rPr>
              <a:t> gemini integration (online)</a:t>
            </a:r>
            <a:endParaRPr lang="en-US" sz="1100" b="0">
              <a:solidFill>
                <a:srgbClr val="94A3B8"/>
              </a:solidFill>
            </a:endParaRPr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>
          <a:xfrm>
            <a:off x="8412480" y="2377440"/>
            <a:ext cx="35661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8412480" y="2377440"/>
            <a:ext cx="356616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📵</a:t>
            </a:r>
            <a:endParaRPr sz="3200" b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59536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Offline-First</a:t>
            </a:r>
            <a:endParaRPr sz="1400" b="1">
              <a:solidFill>
                <a:srgbClr val="06B6D4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595360" y="3794760"/>
            <a:ext cx="32004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rgbClr val="94A3B8"/>
                </a:solidFill>
              </a:rPr>
              <a:t>Most of the </a:t>
            </a:r>
            <a:r>
              <a:rPr sz="1100" b="0">
                <a:solidFill>
                  <a:srgbClr val="94A3B8"/>
                </a:solidFill>
              </a:rPr>
              <a:t>decisions made locally on AMD Ryzen™. Zero cloud dependency after setup.</a:t>
            </a:r>
            <a:endParaRPr sz="1100" b="0">
              <a:solidFill>
                <a:srgbClr val="94A3B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4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ARCHITECTURE DIAGRAM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  <a:r>
              <a:rPr lang="en-US" sz="2800" b="1">
                <a:solidFill>
                  <a:srgbClr val="FFFFFF"/>
                </a:solidFill>
              </a:rPr>
              <a:t> (only for prototyping)</a:t>
            </a:r>
            <a:endParaRPr lang="en-US"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834640" cy="5120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83464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</a:rPr>
              <a:t>LAYER 1 — FIELD (ESP32 + Sensors)</a:t>
            </a:r>
            <a:endParaRPr sz="800" b="1">
              <a:solidFill>
                <a:srgbClr val="22C55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ESP32 Microcontroller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862072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DHT22 Moisture Sensors × </a:t>
            </a:r>
            <a:r>
              <a:rPr lang="en-US" sz="1000" b="0">
                <a:solidFill>
                  <a:srgbClr val="FFFFFF"/>
                </a:solidFill>
              </a:rPr>
              <a:t> 4 (based on gird)</a:t>
            </a:r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3547872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pH Sensors × </a:t>
            </a:r>
            <a:r>
              <a:rPr lang="en-US" sz="1000" b="0">
                <a:solidFill>
                  <a:srgbClr val="FFFFFF"/>
                </a:solidFill>
              </a:rPr>
              <a:t>4 </a:t>
            </a:r>
            <a:r>
              <a:rPr lang="en-US" sz="1000">
                <a:solidFill>
                  <a:srgbClr val="FFFFFF"/>
                </a:solidFill>
                <a:sym typeface="+mn-ea"/>
              </a:rPr>
              <a:t> (based on gird)</a:t>
            </a:r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4233672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>
                <a:solidFill>
                  <a:srgbClr val="FFFFFF"/>
                </a:solidFill>
              </a:rPr>
              <a:t>4 </a:t>
            </a:r>
            <a:r>
              <a:rPr sz="1000" b="0">
                <a:solidFill>
                  <a:srgbClr val="FFFFFF"/>
                </a:solidFill>
              </a:rPr>
              <a:t>× Solenoid Valves</a:t>
            </a:r>
            <a:r>
              <a:rPr lang="en-US" sz="1000" b="0">
                <a:solidFill>
                  <a:srgbClr val="FFFFFF"/>
                </a:solidFill>
              </a:rPr>
              <a:t> + Relays for driving (based on grid)</a:t>
            </a:r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4919472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Motor Pressure Sensor</a:t>
            </a:r>
            <a:r>
              <a:rPr lang="en-US" sz="1000" b="0">
                <a:solidFill>
                  <a:srgbClr val="FFFFFF"/>
                </a:solidFill>
              </a:rPr>
              <a:t> (water sensor)</a:t>
            </a:r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64408" y="38404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</a:rPr>
              <a:t>⟷</a:t>
            </a:r>
            <a:endParaRPr sz="1400" b="0">
              <a:solidFill>
                <a:srgbClr val="334155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37560" y="1371600"/>
            <a:ext cx="2834640" cy="5120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371600"/>
            <a:ext cx="28346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6B6D4"/>
                </a:solidFill>
              </a:rPr>
              <a:t>LAYER 2 — COMMUNICATION (MQTT)</a:t>
            </a:r>
            <a:endParaRPr sz="800" b="1">
              <a:solidFill>
                <a:srgbClr val="06B6D4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74720" y="2176272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HiveMQ Cloud (TLS 8883)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74720" y="2862072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Local Mosquitto Broker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474720" y="3547872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383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Topics: telemetry / control / voice / ledger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474720" y="4233672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Bi-directional, QoS 1, Persistent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36208" y="38404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</a:rPr>
              <a:t>⟷</a:t>
            </a:r>
            <a:endParaRPr sz="1400" b="0">
              <a:solidFill>
                <a:srgbClr val="334155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09360" y="1371600"/>
            <a:ext cx="2834640" cy="5120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371600"/>
            <a:ext cx="2834640" cy="50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D1C24"/>
                </a:solidFill>
              </a:rPr>
              <a:t>LAYER 3 — AMD AI GATEWAY (BRAIN)</a:t>
            </a:r>
            <a:endParaRPr sz="800" b="1">
              <a:solidFill>
                <a:srgbClr val="ED1C24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46520" y="2176272"/>
            <a:ext cx="54864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Irrigation Queue Engine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46520" y="2862072"/>
            <a:ext cx="54864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Acoustic Motor Brain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46520" y="3547872"/>
            <a:ext cx="54864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383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Vision AI (leaf disease)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46520" y="4233672"/>
            <a:ext cx="54864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NLP + Voice Brain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46520" y="4919472"/>
            <a:ext cx="54864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754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Soil Health Brain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46520" y="5605272"/>
            <a:ext cx="54864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5440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Gemini AI Advisor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08008" y="38404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</a:rPr>
              <a:t>⟷</a:t>
            </a:r>
            <a:endParaRPr sz="1400" b="0">
              <a:solidFill>
                <a:srgbClr val="334155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281160" y="1371600"/>
            <a:ext cx="2834640" cy="5120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81160" y="1371600"/>
            <a:ext cx="28346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55F7"/>
                </a:solidFill>
              </a:rPr>
              <a:t>LAYER 4 — USER INTERFACE</a:t>
            </a:r>
            <a:endParaRPr sz="800" b="1">
              <a:solidFill>
                <a:srgbClr val="A855F7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418320" y="2176272"/>
            <a:ext cx="5486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Web Dashboard (HTML/CSS/JS)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418320" y="2862072"/>
            <a:ext cx="5486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Flutter Mobile App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418320" y="3547872"/>
            <a:ext cx="5486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3383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Real-time grid map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418320" y="4233672"/>
            <a:ext cx="5486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AI chat panel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418320" y="4919472"/>
            <a:ext cx="5486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0" y="4754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Voice ledger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5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DIFFERENTIATION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Are We Different?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731520" y="1371600"/>
            <a:ext cx="54864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868680" y="1828800"/>
            <a:ext cx="365760" cy="365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6868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37160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Truly Offline AI — No Cloud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1371600" y="1920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Every AI model runs locally on AMD Ryzen™. A power cut is the only thing that stops it.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6537960" y="1371600"/>
            <a:ext cx="54864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6675120" y="1828800"/>
            <a:ext cx="365760" cy="365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6751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717804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Multi-Modal Intelligence in One Box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7178040" y="1920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5 specialist AI engines coordinated by one gateway — not 5 separate expensive products.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5" name="Rectangle 14"/>
          <p:cNvSpPr/>
          <p:nvPr>
            <p:custDataLst>
              <p:tags r:id="rId11"/>
            </p:custDataLst>
          </p:nvPr>
        </p:nvSpPr>
        <p:spPr>
          <a:xfrm>
            <a:off x="731520" y="3063240"/>
            <a:ext cx="54864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2"/>
            </p:custDataLst>
          </p:nvPr>
        </p:nvSpPr>
        <p:spPr>
          <a:xfrm>
            <a:off x="868680" y="3520440"/>
            <a:ext cx="365760" cy="365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868680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1371600" y="3200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Voice Ledger in Local Languages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13716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Farmer says 'Added 5kg Potash' in Kannada. The system logs it — zero typing required.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0" name="Rectangle 19"/>
          <p:cNvSpPr/>
          <p:nvPr>
            <p:custDataLst>
              <p:tags r:id="rId16"/>
            </p:custDataLst>
          </p:nvPr>
        </p:nvSpPr>
        <p:spPr>
          <a:xfrm>
            <a:off x="6537960" y="3063240"/>
            <a:ext cx="54864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7"/>
            </p:custDataLst>
          </p:nvPr>
        </p:nvSpPr>
        <p:spPr>
          <a:xfrm>
            <a:off x="6675120" y="3520440"/>
            <a:ext cx="365760" cy="365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6675120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7178040" y="3200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Motor Burnout Prevention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717804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Acoustic AI listens to the pump and shuts it off before it burns. Saves ₹15,000+ per incident.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5" name="Rectangle 24"/>
          <p:cNvSpPr/>
          <p:nvPr>
            <p:custDataLst>
              <p:tags r:id="rId21"/>
            </p:custDataLst>
          </p:nvPr>
        </p:nvSpPr>
        <p:spPr>
          <a:xfrm>
            <a:off x="731520" y="4754880"/>
            <a:ext cx="54864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22"/>
            </p:custDataLst>
          </p:nvPr>
        </p:nvSpPr>
        <p:spPr>
          <a:xfrm>
            <a:off x="868680" y="5212080"/>
            <a:ext cx="365760" cy="365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3"/>
            </p:custDataLst>
          </p:nvPr>
        </p:nvSpPr>
        <p:spPr>
          <a:xfrm>
            <a:off x="86868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>
            <p:custDataLst>
              <p:tags r:id="rId24"/>
            </p:custDataLst>
          </p:nvPr>
        </p:nvSpPr>
        <p:spPr>
          <a:xfrm>
            <a:off x="1371600" y="4892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₹0 Extra Infrastructure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>
            <p:custDataLst>
              <p:tags r:id="rId25"/>
            </p:custDataLst>
          </p:nvPr>
        </p:nvSpPr>
        <p:spPr>
          <a:xfrm>
            <a:off x="1371600" y="53035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Uses the farmer's existing laptop as the brain. No server rent, no monthly subscription.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30" name="Rectangle 29"/>
          <p:cNvSpPr/>
          <p:nvPr>
            <p:custDataLst>
              <p:tags r:id="rId26"/>
            </p:custDataLst>
          </p:nvPr>
        </p:nvSpPr>
        <p:spPr>
          <a:xfrm>
            <a:off x="6537960" y="4754880"/>
            <a:ext cx="54864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>
            <p:custDataLst>
              <p:tags r:id="rId27"/>
            </p:custDataLst>
          </p:nvPr>
        </p:nvSpPr>
        <p:spPr>
          <a:xfrm>
            <a:off x="6675120" y="5212080"/>
            <a:ext cx="365760" cy="3657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28"/>
            </p:custDataLst>
          </p:nvPr>
        </p:nvSpPr>
        <p:spPr>
          <a:xfrm>
            <a:off x="667512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>
            <p:custDataLst>
              <p:tags r:id="rId29"/>
            </p:custDataLst>
          </p:nvPr>
        </p:nvSpPr>
        <p:spPr>
          <a:xfrm>
            <a:off x="7178040" y="4892040"/>
            <a:ext cx="466344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Grid Sequential Irrigation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>
            <p:custDataLst>
              <p:tags r:id="rId30"/>
            </p:custDataLst>
          </p:nvPr>
        </p:nvSpPr>
        <p:spPr>
          <a:xfrm>
            <a:off x="7178040" y="53035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Section-by-section watering maintains optimal pressure — 40% water saving vs. broadcast.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6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PROBLEM → SOLUTION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Does It Solve the Problem?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114800" cy="38404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Problem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0" y="1280160"/>
            <a:ext cx="5303520" cy="38404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Agri-Brain Solution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15600" y="1280160"/>
            <a:ext cx="1463040" cy="38404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1325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Module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1664208"/>
            <a:ext cx="112471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1907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Farmer walks 5–10 km to toggle valves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5029200" y="1719072"/>
            <a:ext cx="53035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Web + Mobile app controls all  valves remotely from anywhere on the farm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10515600" y="18013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Irrigation Engine</a:t>
            </a:r>
            <a:endParaRPr sz="900" b="1">
              <a:solidFill>
                <a:srgbClr val="22C55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2414016"/>
            <a:ext cx="11247120" cy="713232"/>
          </a:xfrm>
          <a:prstGeom prst="rect">
            <a:avLst/>
          </a:prstGeom>
          <a:solidFill>
            <a:srgbClr val="162132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6888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Pump runs dry → motor burns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5029200" y="24688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Acoustic AI monitors pressure PSI. Emergency shutdown triggers automatically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4"/>
            </p:custDataLst>
          </p:nvPr>
        </p:nvSpPr>
        <p:spPr>
          <a:xfrm>
            <a:off x="10515600" y="25511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acoustic_brain.py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1520" y="3163824"/>
            <a:ext cx="112471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1868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No internet → no smart agri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>
          <a:xfrm>
            <a:off x="5029200" y="32186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AI runs on AMD Ryzen locally. MQTT via Mosquitto needs only a Wi-Fi router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2" name="TextBox 21"/>
          <p:cNvSpPr txBox="1"/>
          <p:nvPr>
            <p:custDataLst>
              <p:tags r:id="rId6"/>
            </p:custDataLst>
          </p:nvPr>
        </p:nvSpPr>
        <p:spPr>
          <a:xfrm>
            <a:off x="10515600" y="33009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Local Gateway</a:t>
            </a:r>
            <a:endParaRPr sz="900" b="1">
              <a:solidFill>
                <a:srgbClr val="06B6D4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3913632"/>
            <a:ext cx="11247120" cy="713232"/>
          </a:xfrm>
          <a:prstGeom prst="rect">
            <a:avLst/>
          </a:prstGeom>
          <a:solidFill>
            <a:srgbClr val="162132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68496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Crop disease spotted too late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7"/>
            </p:custDataLst>
          </p:nvPr>
        </p:nvSpPr>
        <p:spPr>
          <a:xfrm>
            <a:off x="5029200" y="396849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Vision AI analyses leaf images and alerts before disease spreads to entire crop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6" name="TextBox 25"/>
          <p:cNvSpPr txBox="1"/>
          <p:nvPr>
            <p:custDataLst>
              <p:tags r:id="rId8"/>
            </p:custDataLst>
          </p:nvPr>
        </p:nvSpPr>
        <p:spPr>
          <a:xfrm>
            <a:off x="10515600" y="40507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855F7"/>
                </a:solidFill>
              </a:rPr>
              <a:t>vision_brain.py</a:t>
            </a:r>
            <a:endParaRPr sz="900" b="1">
              <a:solidFill>
                <a:srgbClr val="A855F7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12471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1830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Soil health is guesswork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>
            <p:custDataLst>
              <p:tags r:id="rId9"/>
            </p:custDataLst>
          </p:nvPr>
        </p:nvSpPr>
        <p:spPr>
          <a:xfrm>
            <a:off x="5029200" y="471830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pH + moisture per grid → soil_brain gives actionable grid-level advice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30" name="TextBox 29"/>
          <p:cNvSpPr txBox="1"/>
          <p:nvPr>
            <p:custDataLst>
              <p:tags r:id="rId10"/>
            </p:custDataLst>
          </p:nvPr>
        </p:nvSpPr>
        <p:spPr>
          <a:xfrm>
            <a:off x="1051560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AB308"/>
                </a:solidFill>
              </a:rPr>
              <a:t>soil_brain.py</a:t>
            </a:r>
            <a:endParaRPr sz="900" b="1">
              <a:solidFill>
                <a:srgbClr val="EAB308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5413248"/>
            <a:ext cx="11247120" cy="713232"/>
          </a:xfrm>
          <a:prstGeom prst="rect">
            <a:avLst/>
          </a:prstGeom>
          <a:solidFill>
            <a:srgbClr val="162132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6811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Literacy + language barrier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>
            <p:custDataLst>
              <p:tags r:id="rId11"/>
            </p:custDataLst>
          </p:nvPr>
        </p:nvSpPr>
        <p:spPr>
          <a:xfrm>
            <a:off x="5029200" y="546811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Voice commands in Kannada/Hindi; NLP parses intent and logs actions hands-free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34" name="TextBox 33"/>
          <p:cNvSpPr txBox="1"/>
          <p:nvPr>
            <p:custDataLst>
              <p:tags r:id="rId12"/>
            </p:custDataLst>
          </p:nvPr>
        </p:nvSpPr>
        <p:spPr>
          <a:xfrm>
            <a:off x="10515600" y="55504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voice_brain.py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7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UNIQUE SELLING PROPOSITION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USP of Agri-Brain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solidFill>
            <a:srgbClr val="1A0A05"/>
          </a:solidFill>
          <a:ln w="12700">
            <a:solidFill>
              <a:srgbClr val="7C3A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7941D"/>
                </a:solidFill>
              </a:rPr>
              <a:t>"A ₹0-extra AI farm manager that works entirely offline,
speaks your language, and protects your livelihood 24/7"</a:t>
            </a:r>
            <a:endParaRPr sz="1800" b="1">
              <a:solidFill>
                <a:srgbClr val="F7941D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35661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C55E"/>
                </a:solidFill>
              </a:rPr>
              <a:t>40%</a:t>
            </a:r>
            <a:endParaRPr sz="4400" b="1">
              <a:solidFill>
                <a:srgbClr val="22C55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Water Saved
via precision grid irrigation</a:t>
            </a:r>
            <a:endParaRPr sz="1100" b="0">
              <a:solidFill>
                <a:srgbClr val="94A3B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0" y="3474720"/>
            <a:ext cx="35661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7941D"/>
                </a:solidFill>
              </a:rPr>
              <a:t>₹15K+</a:t>
            </a:r>
            <a:endParaRPr sz="4400" b="1">
              <a:solidFill>
                <a:srgbClr val="F7941D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Motor repair cost
avoided per incident</a:t>
            </a:r>
            <a:endParaRPr sz="1100" b="0">
              <a:solidFill>
                <a:srgbClr val="94A3B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12480" y="3474720"/>
            <a:ext cx="35661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B6D4"/>
                </a:solidFill>
              </a:rPr>
              <a:t>3 hrs</a:t>
            </a:r>
            <a:endParaRPr sz="4400" b="1">
              <a:solidFill>
                <a:srgbClr val="06B6D4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Daily walking labour
saved per farmer</a:t>
            </a:r>
            <a:endParaRPr sz="1100" b="0">
              <a:solidFill>
                <a:srgbClr val="94A3B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8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8882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8882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FEATURE LIST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Complete Feature Set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731520" y="1325880"/>
            <a:ext cx="54864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731520" y="1325880"/>
            <a:ext cx="54864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144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Smart Irrigation Engine</a:t>
            </a:r>
            <a:endParaRPr sz="1300" b="1">
              <a:solidFill>
                <a:srgbClr val="22C55E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914400" y="1920240"/>
            <a:ext cx="51206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grid sequential queue with configurable duration
• Auto-trigger when humidity &lt; </a:t>
            </a:r>
            <a:r>
              <a:rPr lang="en-US" sz="1000" b="0">
                <a:solidFill>
                  <a:srgbClr val="94A3B8"/>
                </a:solidFill>
              </a:rPr>
              <a:t>threshold</a:t>
            </a:r>
            <a:r>
              <a:rPr sz="1000" b="0">
                <a:solidFill>
                  <a:srgbClr val="94A3B8"/>
                </a:solidFill>
              </a:rPr>
              <a:t>
• Manual </a:t>
            </a:r>
            <a:r>
              <a:rPr lang="en-US" sz="1000" b="0">
                <a:solidFill>
                  <a:srgbClr val="94A3B8"/>
                </a:solidFill>
              </a:rPr>
              <a:t>control</a:t>
            </a:r>
            <a:r>
              <a:rPr sz="1000" b="0">
                <a:solidFill>
                  <a:srgbClr val="94A3B8"/>
                </a:solidFill>
              </a:rPr>
              <a:t> via web/mobile/voice
• 2-hour ESP32 hard safety timeout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6537960" y="1325880"/>
            <a:ext cx="54864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6537960" y="1325880"/>
            <a:ext cx="5486400" cy="508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72084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941D"/>
                </a:solidFill>
              </a:rPr>
              <a:t>Acoustic Motor Guard</a:t>
            </a:r>
            <a:endParaRPr sz="1300" b="1">
              <a:solidFill>
                <a:srgbClr val="F7941D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720840" y="19202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Real-time pump pressure PSI monitoring
• Run-dry detection via pressure anomaly
• Emergency shutdown — all valves OFF
• Instant alert to dashboard + mobile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3" name="Rectangle 12"/>
          <p:cNvSpPr/>
          <p:nvPr>
            <p:custDataLst>
              <p:tags r:id="rId9"/>
            </p:custDataLst>
          </p:nvPr>
        </p:nvSpPr>
        <p:spPr>
          <a:xfrm>
            <a:off x="731520" y="3108960"/>
            <a:ext cx="54864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731520" y="3108960"/>
            <a:ext cx="54864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914400" y="3291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Vision AI — Leaf Health</a:t>
            </a:r>
            <a:endParaRPr sz="1300" b="1">
              <a:solidFill>
                <a:srgbClr val="A855F7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914400" y="3703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Early/Late Blight detection in tomatoes
• Leaf Miner, Mite, Aphid pest detection
• Nutrient deficiency via leaf colour
• Processed locally on AMD Ryzen™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7" name="Rectangle 16"/>
          <p:cNvSpPr/>
          <p:nvPr>
            <p:custDataLst>
              <p:tags r:id="rId13"/>
            </p:custDataLst>
          </p:nvPr>
        </p:nvSpPr>
        <p:spPr>
          <a:xfrm>
            <a:off x="6537960" y="3108960"/>
            <a:ext cx="54864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6537960" y="3108960"/>
            <a:ext cx="5486400" cy="508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720840" y="3291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B308"/>
                </a:solidFill>
              </a:rPr>
              <a:t>Voice + NLP Ledger</a:t>
            </a:r>
            <a:endParaRPr sz="1300" b="1">
              <a:solidFill>
                <a:srgbClr val="EAB308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6720840" y="3703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Voice input in Kannada, Hindi, English
• NLP parses action, material, quantity, grid
• Persistent SQLite ledger (farm_ledger.db)
• Hands-free irrigation via voice command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1" name="Rectangle 20"/>
          <p:cNvSpPr/>
          <p:nvPr>
            <p:custDataLst>
              <p:tags r:id="rId17"/>
            </p:custDataLst>
          </p:nvPr>
        </p:nvSpPr>
        <p:spPr>
          <a:xfrm>
            <a:off x="731520" y="4892040"/>
            <a:ext cx="54864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8"/>
            </p:custDataLst>
          </p:nvPr>
        </p:nvSpPr>
        <p:spPr>
          <a:xfrm>
            <a:off x="731520" y="4892040"/>
            <a:ext cx="54864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914400" y="5074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Soil Health Brain</a:t>
            </a:r>
            <a:endParaRPr sz="1300" b="1">
              <a:solidFill>
                <a:srgbClr val="06B6D4"/>
              </a:solidFill>
            </a:endParaRP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914400" y="54864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Per-grid pH + moisture analysis
• Actionable advice (Add lime / Reduce water)
• Grid-level health score mapping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5" name="Rectangle 24"/>
          <p:cNvSpPr/>
          <p:nvPr>
            <p:custDataLst>
              <p:tags r:id="rId21"/>
            </p:custDataLst>
          </p:nvPr>
        </p:nvSpPr>
        <p:spPr>
          <a:xfrm>
            <a:off x="6537960" y="4892040"/>
            <a:ext cx="54864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22"/>
            </p:custDataLst>
          </p:nvPr>
        </p:nvSpPr>
        <p:spPr>
          <a:xfrm>
            <a:off x="6537960" y="4892040"/>
            <a:ext cx="5486400" cy="50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3"/>
            </p:custDataLst>
          </p:nvPr>
        </p:nvSpPr>
        <p:spPr>
          <a:xfrm>
            <a:off x="6720840" y="5074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1C24"/>
                </a:solidFill>
              </a:rPr>
              <a:t>Gemini AI Advisor</a:t>
            </a:r>
            <a:endParaRPr sz="1300" b="1">
              <a:solidFill>
                <a:srgbClr val="ED1C24"/>
              </a:solidFill>
            </a:endParaRPr>
          </a:p>
        </p:txBody>
      </p:sp>
      <p:sp>
        <p:nvSpPr>
          <p:cNvPr id="28" name="TextBox 27"/>
          <p:cNvSpPr txBox="1"/>
          <p:nvPr>
            <p:custDataLst>
              <p:tags r:id="rId24"/>
            </p:custDataLst>
          </p:nvPr>
        </p:nvSpPr>
        <p:spPr>
          <a:xfrm>
            <a:off x="6720840" y="54864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24/7 agricultural advisory chatbot
• Crop rotation, water &amp; pest advice
• Integrated into web dashboard AI chat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9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USE-CASE &amp; PROCESS FLOW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 Day in the Life of Agri-Brain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17320" y="1280160"/>
            <a:ext cx="45720" cy="5303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8448" y="1371600"/>
            <a:ext cx="256032" cy="2560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1C24"/>
                </a:solidFill>
              </a:rPr>
              <a:t>06:00 AM</a:t>
            </a:r>
            <a:endParaRPr sz="1000" b="1">
              <a:solidFill>
                <a:srgbClr val="ED1C2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1640" y="160020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Morning Sensor Report — ESP32 reads moisture + pH. Agri-Brain detects Grid 3 at 32% humidity → auto-queues irrigation.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98448" y="2423160"/>
            <a:ext cx="256032" cy="25603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7941D"/>
                </a:solidFill>
              </a:rPr>
              <a:t>07:00 AM</a:t>
            </a:r>
            <a:endParaRPr sz="1000" b="1">
              <a:solidFill>
                <a:srgbClr val="F7941D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91640" y="265176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Farmer uploads leaf photo → Vision Brain detects Early Blight Stage 1. Gemini suggests treatment protocol.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98448" y="3474720"/>
            <a:ext cx="256032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</a:rPr>
              <a:t>10:00 AM</a:t>
            </a:r>
            <a:endParaRPr sz="1000" b="1">
              <a:solidFill>
                <a:srgbClr val="22C55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1640" y="370332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Voice command in Kannada: 'Irrigate Region 2 for 15 min'. NLP Brain parses it. Valve opens. Ledger logs action.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98448" y="4526280"/>
            <a:ext cx="2560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55F7"/>
                </a:solidFill>
              </a:rPr>
              <a:t>02:00 PM</a:t>
            </a:r>
            <a:endParaRPr sz="1000" b="1">
              <a:solidFill>
                <a:srgbClr val="A855F7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1640" y="475488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Pressure PSI drops. Acoustic Brain triggers EMERGENCY SHUTDOWN. All 10 valves close. Motor is saved.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98448" y="5577840"/>
            <a:ext cx="2560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06:00 PM</a:t>
            </a:r>
            <a:endParaRPr sz="1000" b="1">
              <a:solidFill>
                <a:srgbClr val="06B6D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1640" y="580644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Daily report: Soil Brain shows per-grid health scores. Dashboard summarises water used, alerts raised, entries logged.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10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TECHNOLOGIES USED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103120" cy="34747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7101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17520" y="1234440"/>
            <a:ext cx="3474720" cy="34747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2710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Technology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5120" y="1234440"/>
            <a:ext cx="5212080" cy="34747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2710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Purpose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1581912"/>
            <a:ext cx="11064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8191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Microcontroller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15819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ESP32 + Arduino C++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15819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Field sensor reading, valve control, DHT22 sensors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1952244"/>
            <a:ext cx="11064240" cy="34747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5224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Simulation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19522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Wokwi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0" y="195224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Zero-hardware ESP32 prototype validation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1520" y="2322576"/>
            <a:ext cx="11064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3225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Communication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17520" y="23225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MQTT / HiveMQ Cloud (TLS 8883)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0" y="232257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Bi-directional real-time telemetry &amp; control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2692908"/>
            <a:ext cx="11064240" cy="34747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69290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AI Gateway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17520" y="26929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Python 3 / paho-mqtt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75120" y="26929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Central orchestrator running all AI brains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1520" y="3063240"/>
            <a:ext cx="11064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0632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Acoustic AI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17520" y="30632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acoustic_brain.py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0" y="30632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Motor pressure anomaly detection &amp; emergency shutdown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3433572"/>
            <a:ext cx="11064240" cy="34747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4335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Vision AI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17520" y="34335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Python + OpenCV / PIL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75120" y="34335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Leaf disease and pest classification from images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31520" y="3803904"/>
            <a:ext cx="11064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80390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NLP / Voice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17520" y="380390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nlp_brain.py + voice_brain.py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75120" y="38039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Multi-language voice command parsing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31520" y="4174236"/>
            <a:ext cx="11064240" cy="34747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17423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Advisory AI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17520" y="41742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Google Gemini API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75120" y="41742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Contextual 24/7 agricultural advice chatbot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31520" y="4544568"/>
            <a:ext cx="11064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544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Database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17520" y="454456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SQLite (farm_ledger.db)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75120" y="45445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Offline-first farm activity ledger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31520" y="4914900"/>
            <a:ext cx="11064240" cy="34747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9149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Web UI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017520" y="49149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HTML5 / CSS3 / Vanilla JS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675120" y="491490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Dashboard: irrigation control, grid map, AI chat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31520" y="5285232"/>
            <a:ext cx="11064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28523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Mobile UI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17520" y="528523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Flutter (Dart)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75120" y="52852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Cross-platform mobile control app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31520" y="5655564"/>
            <a:ext cx="11064240" cy="34747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65556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Compute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17520" y="56555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AMD Ryzen™ Laptop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675120" y="565556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All AI inference — replaces cloud entirely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31520" y="6025896"/>
            <a:ext cx="11064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602589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41D"/>
                </a:solidFill>
              </a:rPr>
              <a:t>PCB</a:t>
            </a:r>
            <a:endParaRPr sz="900" b="1">
              <a:solidFill>
                <a:srgbClr val="F7941D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017520" y="60258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KiCad</a:t>
            </a:r>
            <a:endParaRPr sz="900" b="0">
              <a:solidFill>
                <a:srgbClr val="FFFFFF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75120" y="60258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Custom PCB design for field deployment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11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AMD PRODUCTS / SOLUTIONS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AMD Powers This?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600200"/>
          </a:xfrm>
          <a:prstGeom prst="rect">
            <a:avLst/>
          </a:prstGeom>
          <a:solidFill>
            <a:srgbClr val="1A0505"/>
          </a:solidFill>
          <a:ln w="12700">
            <a:solidFill>
              <a:srgbClr val="7C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600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8988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941D"/>
                </a:solidFill>
              </a:rPr>
              <a:t>AMD Ryzen™ — The Edge AI Brain</a:t>
            </a:r>
            <a:endParaRPr sz="1400" b="1">
              <a:solidFill>
                <a:srgbClr val="F7941D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five AI models (acoustic, vision, NLP, soil, advisory) run concurrently on AMD Ryzen™ CPU.
Multi-core architecture enables one dedicated thread per AI brain with near-zero latency.
This replaces an ₹8,000/month cloud AI subscription with a one-time local setup.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698480" cy="1600200"/>
          </a:xfrm>
          <a:prstGeom prst="rect">
            <a:avLst/>
          </a:prstGeom>
          <a:solidFill>
            <a:srgbClr val="1A0505"/>
          </a:solidFill>
          <a:ln w="12700">
            <a:solidFill>
              <a:srgbClr val="7C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73152" cy="1600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941D"/>
                </a:solidFill>
              </a:rPr>
              <a:t>Local Processing → Zero Latency Safety Responses</a:t>
            </a:r>
            <a:endParaRPr sz="1400" b="1">
              <a:solidFill>
                <a:srgbClr val="F7941D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When Acoustic Brain detects motor anomaly, EMERGENCY SHUTDOWN fires in &lt;200 ms.
A cloud-based system takes 2–5 seconds (round-trip). Those seconds mean a burnt motor.
AMD's local processing speed makes this life-saving feature viable.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98480" cy="1600200"/>
          </a:xfrm>
          <a:prstGeom prst="rect">
            <a:avLst/>
          </a:prstGeom>
          <a:solidFill>
            <a:srgbClr val="1A0505"/>
          </a:solidFill>
          <a:ln w="12700">
            <a:solidFill>
              <a:srgbClr val="7C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73152" cy="1600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646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941D"/>
                </a:solidFill>
              </a:rPr>
              <a:t>Scalability Path: AMD ROCm™ (Future)</a:t>
            </a:r>
            <a:endParaRPr sz="1400" b="1">
              <a:solidFill>
                <a:srgbClr val="F7941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Vision AI is designed for GPU acceleration. Future versions will use AMD Radeon™ + ROCm™
to run ResNet / EfficientNet crop-disease models with sub-100 ms inference.
This enables real-time field video analysis at production scale.</a:t>
            </a:r>
            <a:endParaRPr sz="1000" b="0">
              <a:solidFill>
                <a:srgbClr val="94A3B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12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1C24"/>
                </a:solidFill>
              </a:rPr>
              <a:t>COST &amp; ROADMAP</a:t>
            </a:r>
            <a:endParaRPr sz="900" b="1">
              <a:solidFill>
                <a:srgbClr val="ED1C2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Implementation Cost &amp; Next Steps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Estimated Per-Farm Hardware Cost</a:t>
            </a:r>
            <a:endParaRPr sz="1100" b="1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303520" cy="4937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ESP32 + Solenoid Valves (×10)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54880" y="1673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C55E"/>
                </a:solidFill>
              </a:rPr>
              <a:t>₹3,500</a:t>
            </a:r>
            <a:endParaRPr sz="1100" b="1">
              <a:solidFill>
                <a:srgbClr val="22C55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2130552"/>
            <a:ext cx="5303520" cy="493776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Moisture + pH Sensors (×10)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0" y="22037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C55E"/>
                </a:solidFill>
              </a:rPr>
              <a:t>₹1,200</a:t>
            </a:r>
            <a:endParaRPr sz="1100" b="1">
              <a:solidFill>
                <a:srgbClr val="22C55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2660904"/>
            <a:ext cx="5303520" cy="4937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340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Local Wi-Fi Router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0" y="27340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C55E"/>
                </a:solidFill>
              </a:rPr>
              <a:t>₹1,500</a:t>
            </a:r>
            <a:endParaRPr sz="1100" b="1">
              <a:solidFill>
                <a:srgbClr val="22C55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3191256"/>
            <a:ext cx="5303520" cy="493776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PCB Fabrication (Custom)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80" y="32644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C55E"/>
                </a:solidFill>
              </a:rPr>
              <a:t>₹800</a:t>
            </a:r>
            <a:endParaRPr sz="1100" b="1">
              <a:solidFill>
                <a:srgbClr val="22C55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3721608"/>
            <a:ext cx="5303520" cy="4937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Wiring + Enclosure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3794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C55E"/>
                </a:solidFill>
              </a:rPr>
              <a:t>₹500</a:t>
            </a:r>
            <a:endParaRPr sz="1100" b="1">
              <a:solidFill>
                <a:srgbClr val="22C55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4251960"/>
            <a:ext cx="5303520" cy="493776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AMD Ryzen™ Laptop (co-op)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54880" y="4325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C55E"/>
                </a:solidFill>
              </a:rPr>
              <a:t>₹0</a:t>
            </a:r>
            <a:endParaRPr sz="1100" b="1">
              <a:solidFill>
                <a:srgbClr val="22C55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20" y="4818888"/>
            <a:ext cx="5303520" cy="5486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Total Hardware Cost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0" y="4892040"/>
            <a:ext cx="17373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</a:rPr>
              <a:t>~₹</a:t>
            </a:r>
            <a:r>
              <a:rPr lang="en-US" sz="1600" b="1">
                <a:solidFill>
                  <a:srgbClr val="FFFFFF"/>
                </a:solidFill>
              </a:rPr>
              <a:t>8,0</a:t>
            </a:r>
            <a:r>
              <a:rPr sz="1600" b="1">
                <a:solidFill>
                  <a:srgbClr val="FFFFFF"/>
                </a:solidFill>
              </a:rPr>
              <a:t>00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Prototype → Production Roadmap</a:t>
            </a:r>
            <a:endParaRPr sz="1100" b="1">
              <a:solidFill>
                <a:srgbClr val="94A3B8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83680" y="1673352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6002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Phase 1: Wokwi + Cloud Broker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0" y="16367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✓ Done</a:t>
            </a:r>
            <a:endParaRPr sz="900" b="1">
              <a:solidFill>
                <a:srgbClr val="22C55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03720" y="19476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10-grid simulation, AI gateway, HiveMQ integration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665976" y="1837944"/>
            <a:ext cx="18288" cy="731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2633472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560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Phase 2: Premium Web Dashboard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58400" y="25968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✓ Done</a:t>
            </a:r>
            <a:endParaRPr sz="900" b="1">
              <a:solidFill>
                <a:srgbClr val="22C55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03720" y="29077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Grid map, real-time telemetry, AI chat, voice ledger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65976" y="2798064"/>
            <a:ext cx="18288" cy="731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3593592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3520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Phase 3: Custom PCB Design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58400" y="3557016"/>
            <a:ext cx="1371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>
                <a:solidFill>
                  <a:srgbClr val="22C55E"/>
                </a:solidFill>
              </a:rPr>
              <a:t>Optimizing for real world scenerio</a:t>
            </a:r>
            <a:endParaRPr lang="en-US" sz="900" b="1">
              <a:solidFill>
                <a:srgbClr val="22C55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03720" y="38679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KiCad PCB for field-ready hardware deployment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65976" y="3758184"/>
            <a:ext cx="18288" cy="731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4553712"/>
            <a:ext cx="164592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44805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Phase 4: Physical Field Pilot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058400" y="45171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Upcoming</a:t>
            </a:r>
            <a:endParaRPr sz="900" b="1">
              <a:solidFill>
                <a:srgbClr val="94A3B8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03720" y="48280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Deploy on real farm, integrate sensors, iterate AI models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665976" y="4718304"/>
            <a:ext cx="18288" cy="731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0" y="5513832"/>
            <a:ext cx="164592" cy="1645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3720" y="5440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Phase 5: AMD ROCm™ GPU Inference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058400" y="54772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Upcoming</a:t>
            </a:r>
            <a:endParaRPr sz="900" b="1">
              <a:solidFill>
                <a:srgbClr val="94A3B8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03720" y="57881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Real-time video crop analysis with AMD Radeon™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31520" y="5669280"/>
            <a:ext cx="5303520" cy="7315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824728"/>
            <a:ext cx="9144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🔗  </a:t>
            </a:r>
            <a:r>
              <a:rPr lang="en-US" altLang="en-US" sz="1100" b="1">
                <a:solidFill>
                  <a:srgbClr val="FFFFFF"/>
                </a:solidFill>
              </a:rPr>
              <a:t>https://github.com/ShravanaHS/Agri-Brain-AI-Orchestrated-Rural-Grid-A-ORG-</a:t>
            </a:r>
            <a:r>
              <a:rPr sz="1100" b="1">
                <a:solidFill>
                  <a:srgbClr val="FFFFFF"/>
                </a:solidFill>
              </a:rPr>
              <a:t>-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13 / 13</a:t>
            </a:r>
            <a:endParaRPr sz="90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2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3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4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5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6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7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8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9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10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11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12.xml><?xml version="1.0" encoding="utf-8"?>
<p:tagLst xmlns:p="http://schemas.openxmlformats.org/presentationml/2006/main">
  <p:tag name="KSO_WM_DIAGRAM_VIRTUALLY_FRAME" val="{&quot;height&quot;:320.8,&quot;left&quot;:57.6,&quot;top&quot;:187.2,&quot;width&quot;:885.6}"/>
</p:tagLst>
</file>

<file path=ppt/tags/tag13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14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15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16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17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18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19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0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1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2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3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4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5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6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7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8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29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0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1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2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3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4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5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6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7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8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39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40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41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42.xml><?xml version="1.0" encoding="utf-8"?>
<p:tagLst xmlns:p="http://schemas.openxmlformats.org/presentationml/2006/main">
  <p:tag name="KSO_WM_DIAGRAM_VIRTUALLY_FRAME" val="{&quot;height&quot;:388.8,&quot;left&quot;:57.6,&quot;top&quot;:108,&quot;width&quot;:889.2}"/>
</p:tagLst>
</file>

<file path=ppt/tags/tag43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44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45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46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47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48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49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50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51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52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53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54.xml><?xml version="1.0" encoding="utf-8"?>
<p:tagLst xmlns:p="http://schemas.openxmlformats.org/presentationml/2006/main">
  <p:tag name="KSO_WM_DIAGRAM_VIRTUALLY_FRAME" val="{&quot;height&quot;:342.00000000000006,&quot;left&quot;:396,&quot;top&quot;:135.35999999999999,&quot;width&quot;:540}"/>
</p:tagLst>
</file>

<file path=ppt/tags/tag55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56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57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58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59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0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1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2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3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4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5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6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7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8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69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0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1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2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3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4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5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6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7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ags/tag78.xml><?xml version="1.0" encoding="utf-8"?>
<p:tagLst xmlns:p="http://schemas.openxmlformats.org/presentationml/2006/main">
  <p:tag name="KSO_WM_DIAGRAM_VIRTUALLY_FRAME" val="{&quot;height&quot;:410.4,&quot;left&quot;:57.6,&quot;top&quot;:104.4,&quot;width&quot;:88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8751</Words>
  <Application>WPS Presentation</Application>
  <PresentationFormat>On-screen Show (4:3)</PresentationFormat>
  <Paragraphs>524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shs creations</cp:lastModifiedBy>
  <cp:revision>5</cp:revision>
  <dcterms:created xsi:type="dcterms:W3CDTF">2013-01-27T09:14:00Z</dcterms:created>
  <dcterms:modified xsi:type="dcterms:W3CDTF">2026-03-01T10:14:13Z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B138EAD3C27E45CF8460842E880B81BE_12</vt:lpwstr>
  </property>
  <property fmtid="{D5CDD505-2E9C-101B-9397-08002B2CF9AE}" pid="3" name="KSOProductBuildVer">
    <vt:lpwstr>1033-12.2.0.23196</vt:lpwstr>
  </property>
</Properties>
</file>