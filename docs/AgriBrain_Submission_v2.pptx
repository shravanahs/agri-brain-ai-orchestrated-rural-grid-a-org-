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1" r:id="rId9"/>
    <p:sldId id="261" r:id="rId10"/>
    <p:sldId id="262" r:id="rId11"/>
    <p:sldId id="263" r:id="rId12"/>
    <p:sldId id="264" r:id="rId13"/>
    <p:sldId id="265" r:id="rId14"/>
    <p:sldId id="266" r:id="rId15"/>
    <p:sldId id="270" r:id="rId16"/>
  </p:sldIdLst>
  <p:sldSz cx="9144000" cy="5143500"/>
  <p:notesSz cx="6858000" cy="9144000"/>
  <p:embeddedFontLst>
    <p:embeddedFont>
      <p:font typeface="Poppins" panose="0000060000000000000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Team Details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541020" y="3778250"/>
            <a:ext cx="7177405" cy="104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Team name - </a:t>
            </a:r>
            <a:r>
              <a:rPr lang="en-US"/>
              <a:t>Silicon Hackers</a:t>
            </a:r>
          </a:p>
          <a:p>
            <a:r>
              <a:t>Team leader name - Shravana H S</a:t>
            </a:r>
          </a:p>
          <a:p>
            <a:r>
              <a:t>Problem Statement - Indian Farmers Face a Triple Crisis: The 'Kilometre Gap', Motor Burnout, and The Cloud Gap.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4000"/>
              <a:t>Brief </a:t>
            </a:r>
            <a:r>
              <a:rPr sz="4400"/>
              <a:t>about the idea</a:t>
            </a:r>
            <a:endParaRPr sz="4400"/>
          </a:p>
        </p:txBody>
      </p:sp>
      <p:sp>
        <p:nvSpPr>
          <p:cNvPr id="64" name="Google Shape;64;p14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/>
            <a:r>
              <a:t>Agri-Brain is a Local-First Edge AI platform running</a:t>
            </a:r>
            <a:r>
              <a:rPr lang="en-US"/>
              <a:t> </a:t>
            </a:r>
            <a:r>
              <a:t>entirely on an AMD Ryzen Laptop.</a:t>
            </a:r>
            <a:r>
              <a:rPr lang="en-US"/>
              <a:t> </a:t>
            </a:r>
            <a:r>
              <a:t>It connects to ESP32 microcontrollers in the field via MQTT,</a:t>
            </a:r>
            <a:r>
              <a:rPr lang="en-US"/>
              <a:t> </a:t>
            </a:r>
            <a:r>
              <a:t>making real-time decisions without any internet. It is a brain transplant for the traditional farm.</a:t>
            </a: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600"/>
              <a:t>Opportunities &amp; USPs</a:t>
            </a:r>
            <a:endParaRPr sz="3600"/>
          </a:p>
        </p:txBody>
      </p:sp>
      <p:sp>
        <p:nvSpPr>
          <p:cNvPr id="72" name="Google Shape;72;p15"/>
          <p:cNvSpPr txBox="1"/>
          <p:nvPr>
            <p:ph type="subTitle" idx="1"/>
          </p:nvPr>
        </p:nvSpPr>
        <p:spPr>
          <a:xfrm>
            <a:off x="176445" y="1192025"/>
            <a:ext cx="8520600" cy="25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sz="1400"/>
              <a:t>Opportunities: Solving rural agricultural challenges with affordable, local AI.</a:t>
            </a:r>
            <a:endParaRPr sz="1400"/>
          </a:p>
          <a:p>
            <a:pPr algn="just"/>
            <a:endParaRPr sz="1400"/>
          </a:p>
          <a:p>
            <a:pPr algn="just"/>
            <a:r>
              <a:rPr sz="1400"/>
              <a:t>How different is it from existing ideas?</a:t>
            </a:r>
            <a:endParaRPr sz="1400"/>
          </a:p>
          <a:p>
            <a:pPr algn="just"/>
            <a:r>
              <a:rPr sz="1400"/>
              <a:t>Truly Offline AI — No Cloud. Every AI model runs locally. Zero monthly subscription.</a:t>
            </a:r>
            <a:endParaRPr sz="1400"/>
          </a:p>
          <a:p>
            <a:pPr algn="just"/>
            <a:r>
              <a:rPr sz="1400"/>
              <a:t>Multi-Modal Intelligence in One Box: 5 AI engines coordinated by one gateway.</a:t>
            </a:r>
            <a:endParaRPr sz="1400"/>
          </a:p>
          <a:p>
            <a:pPr algn="just"/>
            <a:r>
              <a:rPr sz="1400"/>
              <a:t>Voice Ledger in Local Languages: spoken commands (Kannada/Hindi) logic logging.</a:t>
            </a:r>
            <a:endParaRPr sz="1400"/>
          </a:p>
          <a:p>
            <a:pPr algn="just"/>
            <a:r>
              <a:rPr sz="1400"/>
              <a:t>Motor Burnout Prevention: Acoustic AI shuts pump off before it burns.</a:t>
            </a:r>
            <a:endParaRPr sz="1400"/>
          </a:p>
          <a:p>
            <a:pPr algn="just"/>
            <a:endParaRPr sz="1400"/>
          </a:p>
          <a:p>
            <a:pPr algn="just"/>
            <a:r>
              <a:rPr sz="1400"/>
              <a:t>How will it be able to solve the problem?</a:t>
            </a:r>
            <a:endParaRPr sz="1400"/>
          </a:p>
          <a:p>
            <a:pPr algn="just"/>
            <a:r>
              <a:rPr sz="1400"/>
              <a:t>By providing a Rs 0-extra AI farm manager that works offline, speaks the local language, and protects livelihood 24/7.</a:t>
            </a:r>
            <a:endParaRPr sz="1400"/>
          </a:p>
          <a:p>
            <a:pPr algn="just"/>
            <a:endParaRPr sz="1400"/>
          </a:p>
          <a:p>
            <a:pPr algn="just"/>
            <a:r>
              <a:rPr sz="1400"/>
              <a:t>USP:</a:t>
            </a:r>
            <a:endParaRPr sz="1400"/>
          </a:p>
          <a:p>
            <a:pPr algn="just"/>
            <a:r>
              <a:rPr sz="1400"/>
              <a:t>40% Water Saved. Rs 15K+ Motor repair cost avoided. 3 hrs daily walking labour saved.</a:t>
            </a:r>
            <a:endParaRPr sz="1400"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200"/>
              <a:t>List of features offered by the solution</a:t>
            </a:r>
            <a:endParaRPr sz="3200"/>
          </a:p>
        </p:txBody>
      </p:sp>
      <p:sp>
        <p:nvSpPr>
          <p:cNvPr id="81" name="Google Shape;81;p16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sz="2400"/>
              <a:t>• Smart Irrigation Engine (10-grid sequential)</a:t>
            </a:r>
            <a:endParaRPr sz="2400"/>
          </a:p>
          <a:p>
            <a:pPr algn="l"/>
            <a:r>
              <a:rPr sz="2400"/>
              <a:t>• Acoustic Motor Guard (Run-dry detection)</a:t>
            </a:r>
            <a:endParaRPr sz="2400"/>
          </a:p>
          <a:p>
            <a:pPr algn="l"/>
            <a:r>
              <a:rPr sz="2400"/>
              <a:t>• Vision AI (Leaf Health, disease classification)</a:t>
            </a:r>
            <a:endParaRPr sz="2400"/>
          </a:p>
          <a:p>
            <a:pPr algn="l"/>
            <a:r>
              <a:rPr sz="2400"/>
              <a:t>• Voice + NLP Ledger (Multi-language voice parsing)</a:t>
            </a:r>
            <a:endParaRPr sz="2400"/>
          </a:p>
          <a:p>
            <a:pPr algn="l"/>
            <a:r>
              <a:rPr sz="2400"/>
              <a:t>• Soil Health Brain (Grid-level health score)</a:t>
            </a:r>
            <a:endParaRPr sz="2400"/>
          </a:p>
          <a:p>
            <a:pPr algn="l"/>
            <a:r>
              <a:rPr sz="2400"/>
              <a:t>• Gemini AI Advisor (24/7 agricultural chatbot)</a:t>
            </a:r>
            <a:endParaRPr sz="2400"/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2800"/>
              <a:t>Process flow diagram or Use-case diagram</a:t>
            </a:r>
            <a:endParaRPr sz="2800"/>
          </a:p>
        </p:txBody>
      </p:sp>
      <p:sp>
        <p:nvSpPr>
          <p:cNvPr id="89" name="Google Shape;89;p17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sz="2000"/>
              <a:t>06:00 AM: ESP32 reads moisture, Agri-Brain auto-queues irrigation.</a:t>
            </a:r>
            <a:endParaRPr sz="2000"/>
          </a:p>
          <a:p>
            <a:pPr algn="l"/>
            <a:r>
              <a:rPr sz="2000"/>
              <a:t>07:00 AM: Vision Brain detects leaf disease. Gemini suggests treatment.</a:t>
            </a:r>
            <a:endParaRPr sz="2000"/>
          </a:p>
          <a:p>
            <a:pPr algn="l"/>
            <a:r>
              <a:rPr sz="2000"/>
              <a:t>10:00 AM: Voice command: "Irrigate Region 2". Valve opens. Ledger logs action.</a:t>
            </a:r>
            <a:endParaRPr sz="2000"/>
          </a:p>
          <a:p>
            <a:pPr algn="l"/>
            <a:r>
              <a:rPr sz="2000"/>
              <a:t>02:00 PM: Pressure drops. Acoustic Brain triggers EMERGENCY SHUTDOWN.</a:t>
            </a:r>
            <a:endParaRPr sz="2000"/>
          </a:p>
          <a:p>
            <a:pPr algn="l"/>
            <a:r>
              <a:rPr sz="2000"/>
              <a:t>06:00 PM: Soil Brain shows health scores.</a:t>
            </a:r>
            <a:endParaRPr sz="2000"/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12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Wireframes/Mock diagrams of the proposed solution (optional)</a:t>
            </a:r>
            <a:endParaRPr sz="1620" b="1"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97" name="Google Shape;97;p18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Type here</a:t>
            </a:r>
            <a:endParaRPr sz="1300"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4830"/>
            <a:ext cx="91440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200"/>
              <a:t>Architecture diagram of the proposed solution</a:t>
            </a:r>
            <a:endParaRPr sz="3200"/>
          </a:p>
        </p:txBody>
      </p:sp>
      <p:sp>
        <p:nvSpPr>
          <p:cNvPr id="105" name="Google Shape;105;p19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sz="2000"/>
              <a:t>Layer 1: FIELD (ESP32, DHT22, Sensors, Solenoid Valves)</a:t>
            </a:r>
            <a:endParaRPr sz="2000"/>
          </a:p>
          <a:p>
            <a:pPr algn="l"/>
            <a:r>
              <a:rPr sz="2000"/>
              <a:t>-&gt; MQTT</a:t>
            </a:r>
            <a:endParaRPr sz="2000"/>
          </a:p>
          <a:p>
            <a:pPr algn="l"/>
            <a:r>
              <a:rPr sz="2000"/>
              <a:t>Layer 2: COMMUNICATION (Mosquitto/HiveMQ)</a:t>
            </a:r>
            <a:endParaRPr sz="2000"/>
          </a:p>
          <a:p>
            <a:pPr algn="l"/>
            <a:r>
              <a:rPr sz="2000"/>
              <a:t>-&gt; MQTT</a:t>
            </a:r>
            <a:endParaRPr sz="2000"/>
          </a:p>
          <a:p>
            <a:pPr algn="l"/>
            <a:r>
              <a:rPr sz="2000"/>
              <a:t>Layer 3: AMD AI GATEWAY (Irrigation, Acoustic, Vision, NLP, Soil, Gemini AI)</a:t>
            </a:r>
            <a:endParaRPr sz="2000"/>
          </a:p>
          <a:p>
            <a:pPr algn="l"/>
            <a:r>
              <a:rPr sz="2000"/>
              <a:t>-&gt;</a:t>
            </a:r>
            <a:endParaRPr sz="2000"/>
          </a:p>
          <a:p>
            <a:pPr algn="l"/>
            <a:r>
              <a:rPr sz="2000"/>
              <a:t>Layer 4: USER INTERFACE (Web Dashboard, Flutter Mobile App)</a:t>
            </a:r>
            <a:endParaRPr sz="2000"/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200"/>
              <a:t>Technologies to be used in the solution</a:t>
            </a:r>
            <a:endParaRPr sz="3200"/>
          </a:p>
        </p:txBody>
      </p:sp>
      <p:sp>
        <p:nvSpPr>
          <p:cNvPr id="113" name="Google Shape;113;p20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sz="1800"/>
              <a:t>• Microcontroller: ESP32 + Arduino C++</a:t>
            </a:r>
            <a:endParaRPr sz="1800"/>
          </a:p>
          <a:p>
            <a:pPr algn="l"/>
            <a:r>
              <a:rPr sz="1800"/>
              <a:t>• Simulation: Wokwi</a:t>
            </a:r>
            <a:endParaRPr sz="1800"/>
          </a:p>
          <a:p>
            <a:pPr algn="l"/>
            <a:r>
              <a:rPr sz="1800"/>
              <a:t>• Communication: MQTT / Mosquitto / HiveMQ Cloud</a:t>
            </a:r>
            <a:endParaRPr sz="1800"/>
          </a:p>
          <a:p>
            <a:pPr algn="l"/>
            <a:r>
              <a:rPr sz="1800"/>
              <a:t>• AI Gateway: Python 3</a:t>
            </a:r>
            <a:endParaRPr sz="1800"/>
          </a:p>
          <a:p>
            <a:pPr algn="l"/>
            <a:r>
              <a:rPr sz="1800"/>
              <a:t>• Acoustic AI: acoustic_brain.py</a:t>
            </a:r>
            <a:endParaRPr sz="1800"/>
          </a:p>
          <a:p>
            <a:pPr algn="l"/>
            <a:r>
              <a:rPr sz="1800"/>
              <a:t>• Vision AI: OpenCV / PIL</a:t>
            </a:r>
            <a:endParaRPr sz="1800"/>
          </a:p>
          <a:p>
            <a:pPr algn="l"/>
            <a:r>
              <a:rPr sz="1800"/>
              <a:t>• NLP/Voice: nlp_brain.py + voice_brain.py</a:t>
            </a:r>
            <a:endParaRPr sz="1800"/>
          </a:p>
          <a:p>
            <a:pPr algn="l"/>
            <a:r>
              <a:rPr sz="1800"/>
              <a:t>• Advisory AI: Google Gemini API</a:t>
            </a:r>
            <a:endParaRPr sz="1800"/>
          </a:p>
          <a:p>
            <a:pPr algn="l"/>
            <a:r>
              <a:rPr sz="1800"/>
              <a:t>• Database: SQLite (farm_ledger.db)</a:t>
            </a:r>
            <a:endParaRPr sz="1800"/>
          </a:p>
          <a:p>
            <a:pPr algn="l"/>
            <a:r>
              <a:rPr sz="1800"/>
              <a:t>• Web UI: HTML5/CSS3/Vanilla JS</a:t>
            </a:r>
            <a:endParaRPr sz="1800"/>
          </a:p>
          <a:p>
            <a:pPr algn="l"/>
            <a:r>
              <a:rPr sz="1800"/>
              <a:t>• Mobile UI: Flutter (Dart)</a:t>
            </a:r>
            <a:endParaRPr sz="1800"/>
          </a:p>
          <a:p>
            <a:pPr algn="l"/>
            <a:r>
              <a:rPr sz="1800"/>
              <a:t>• Compute: AMD Ryzen Laptop</a:t>
            </a:r>
            <a:endParaRPr sz="1800"/>
          </a:p>
          <a:p>
            <a:pPr algn="l"/>
            <a:r>
              <a:rPr sz="1800"/>
              <a:t>• PCB: KiCad</a:t>
            </a:r>
            <a:endParaRPr sz="1800"/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200"/>
              <a:t>Usage of AMD Products/Solutions</a:t>
            </a:r>
            <a:endParaRPr sz="3200"/>
          </a:p>
        </p:txBody>
      </p:sp>
      <p:sp>
        <p:nvSpPr>
          <p:cNvPr id="121" name="Google Shape;121;p21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sz="2400"/>
              <a:t>All five AI models (acoustic, vision, NLP, soil, advisory) run concurrently on an AMD Ryzen Laptop CPU. Multi-core architecture enables one dedicated thread per AI brain with near-zero latency, replacing cloud AI subscriptions. Local processing speed ensures life-saving features like sub-200ms emergency motor shutdown fire on time.</a:t>
            </a:r>
            <a:endParaRPr sz="2400"/>
          </a:p>
          <a:p>
            <a:pPr algn="l"/>
            <a:r>
              <a:rPr sz="2400"/>
              <a:t>Future scalability roadmap uses AMD ROCm for GPU-accelerated frame analysis.</a:t>
            </a:r>
            <a:endParaRPr sz="2400"/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2800"/>
              <a:t>Estimated implementation cost (optional)</a:t>
            </a:r>
            <a:endParaRPr sz="2800"/>
          </a:p>
        </p:txBody>
      </p:sp>
      <p:sp>
        <p:nvSpPr>
          <p:cNvPr id="129" name="Google Shape;129;p22"/>
          <p:cNvSpPr txBox="1"/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2000"/>
              <a:t>Estimated Per-Farm Hardware Cost:</a:t>
            </a:r>
            <a:endParaRPr sz="2000"/>
          </a:p>
          <a:p>
            <a:r>
              <a:rPr sz="2000"/>
              <a:t>ESP32 + Solenoid Valves (x10): Rs 3,500</a:t>
            </a:r>
            <a:endParaRPr sz="2000"/>
          </a:p>
          <a:p>
            <a:r>
              <a:rPr sz="2000"/>
              <a:t>Moisture + pH Sensors (x10): Rs 1,200</a:t>
            </a:r>
            <a:endParaRPr sz="2000"/>
          </a:p>
          <a:p>
            <a:r>
              <a:rPr sz="2000"/>
              <a:t>Local Wi-Fi Router: Rs 1,500</a:t>
            </a:r>
            <a:endParaRPr sz="2000"/>
          </a:p>
          <a:p>
            <a:r>
              <a:rPr sz="2000"/>
              <a:t>PCB Fabrication: Rs 800</a:t>
            </a:r>
            <a:endParaRPr sz="2000"/>
          </a:p>
          <a:p>
            <a:r>
              <a:rPr sz="2000"/>
              <a:t>Wiring + Enclosure: Rs 500</a:t>
            </a:r>
            <a:endParaRPr sz="2000"/>
          </a:p>
          <a:p>
            <a:r>
              <a:rPr sz="2000"/>
              <a:t>AMD Ryzen Laptop: Rs 0 (Existing)</a:t>
            </a:r>
            <a:endParaRPr sz="2000"/>
          </a:p>
          <a:p>
            <a:endParaRPr sz="2000"/>
          </a:p>
          <a:p>
            <a:r>
              <a:rPr sz="2000"/>
              <a:t>Total Hardware Cost: ~Rs 7,500</a:t>
            </a:r>
            <a:endParaRPr sz="2000"/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 panose="00000600000000000000"/>
                <a:ea typeface="Poppins" panose="00000600000000000000"/>
                <a:cs typeface="Poppins" panose="00000600000000000000"/>
                <a:sym typeface="Poppins" panose="00000600000000000000"/>
              </a:rPr>
              <a:t>Prototype Assets (Optional)</a:t>
            </a:r>
            <a:endParaRPr sz="1620" b="1">
              <a:latin typeface="Poppins" panose="00000600000000000000"/>
              <a:ea typeface="Poppins" panose="00000600000000000000"/>
              <a:cs typeface="Poppins" panose="00000600000000000000"/>
              <a:sym typeface="Poppins" panose="00000600000000000000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2721255"/>
            <a:ext cx="8520600" cy="1689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GitHub Public Repository Link:</a:t>
            </a:r>
          </a:p>
          <a:p>
            <a:r>
              <a:t>https://github.com/ShravanaHS/Agri-Brain-AI-Orchestrated-Rural-Grid-A-ORG-</a:t>
            </a:r>
          </a:p>
          <a:p/>
          <a:p>
            <a:r>
              <a:t>Demo Video Link:</a:t>
            </a:r>
            <a:r>
              <a:rPr lang="en-US"/>
              <a:t> </a:t>
            </a:r>
            <a:r>
              <a:rPr lang="en-US" altLang="en-US"/>
              <a:t>https://drive.google.com/file/d/1Ck_wTtQikj-M6UTONnekITmb1q8z6xfg/view?usp=sharing</a:t>
            </a:r>
            <a:endParaRPr lang="en-US" altLang="en-US"/>
          </a:p>
          <a:p>
            <a:r>
              <a:rPr lang="en-US"/>
              <a:t> </a:t>
            </a:r>
          </a:p>
          <a:p/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1"/>
          <a:srcRect b="89082"/>
          <a:stretch>
            <a:fillRect/>
          </a:stretch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2"/>
          <a:srcRect t="98295"/>
          <a:stretch>
            <a:fillRect/>
          </a:stretch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27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3578</Words>
  <Application>WPS Presentation</Application>
  <PresentationFormat/>
  <Paragraphs>99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Poppins</vt:lpstr>
      <vt:lpstr>Microsoft YaHei</vt:lpstr>
      <vt:lpstr>Arial Unicode MS</vt:lpstr>
      <vt:lpstr>Simple Light</vt:lpstr>
      <vt:lpstr>PowerPoint 演示文稿</vt:lpstr>
      <vt:lpstr>Brief about the idea</vt:lpstr>
      <vt:lpstr>Opportunities &amp; USPs</vt:lpstr>
      <vt:lpstr>List of features offered by the solution</vt:lpstr>
      <vt:lpstr>Process flow diagram or Use-case diagram</vt:lpstr>
      <vt:lpstr>PowerPoint 演示文稿</vt:lpstr>
      <vt:lpstr>Wireframes/Mock diagrams of the proposed solution (optional)</vt:lpstr>
      <vt:lpstr>Architecture diagram of the proposed solution</vt:lpstr>
      <vt:lpstr>Technologies to be used in the solution</vt:lpstr>
      <vt:lpstr>Usage of AMD Products/Solutions</vt:lpstr>
      <vt:lpstr>Estimated implementation cost (optional)</vt:lpstr>
      <vt:lpstr>Prototype Assets (Optional)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shs creations</cp:lastModifiedBy>
  <cp:revision>1</cp:revision>
  <dcterms:created xsi:type="dcterms:W3CDTF">2026-03-01T17:38:49Z</dcterms:created>
  <dcterms:modified xsi:type="dcterms:W3CDTF">2026-03-01T17:38:49Z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07D86CA4FBBC4BA8B5A2E77A3A82EA47_12</vt:lpwstr>
  </property>
  <property fmtid="{D5CDD505-2E9C-101B-9397-08002B2CF9AE}" pid="3" name="KSOProductBuildVer">
    <vt:lpwstr>1033-12.2.0.23196</vt:lpwstr>
  </property>
</Properties>
</file>